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1a09d7fdf4bde" /><Relationship Type="http://schemas.openxmlformats.org/officeDocument/2006/relationships/extended-properties" Target="/docProps/app.xml" Id="R8d3c27d3c4dc469f" /><Relationship Type="http://schemas.openxmlformats.org/officeDocument/2006/relationships/officeDocument" Target="/ppt/presentation.xml" Id="R2432120037ad44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c5d4d278b4bb1"/>
  </p:sldMasterIdLst>
  <p:notesMasterIdLst>
    <p:notesMasterId xmlns:r="http://schemas.openxmlformats.org/officeDocument/2006/relationships" r:id="R886541c6f5d54f88"/>
  </p:notesMasterIdLst>
  <p:sldIdLst>
    <p:sldId xmlns:r="http://schemas.openxmlformats.org/officeDocument/2006/relationships" id="256" r:id="R9d9831c8fc8e46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0474cef754296" /><Relationship Type="http://schemas.openxmlformats.org/officeDocument/2006/relationships/slideMaster" Target="/ppt/slideMasters/slideMaster1.xml" Id="Rad5c5d4d278b4bb1" /><Relationship Type="http://schemas.openxmlformats.org/officeDocument/2006/relationships/notesMaster" Target="/ppt/notesMasters/notesMaster1.xml" Id="R886541c6f5d54f88" /><Relationship Type="http://schemas.openxmlformats.org/officeDocument/2006/relationships/presProps" Target="/ppt/presProps.xml" Id="Rcd56a7f081354236" /><Relationship Type="http://schemas.openxmlformats.org/officeDocument/2006/relationships/viewProps" Target="/ppt/viewProps.xml" Id="Rc2b16f8ef3de45f7" /><Relationship Type="http://schemas.openxmlformats.org/officeDocument/2006/relationships/tableStyles" Target="/ppt/tableStyles.xml" Id="R12f4b2963b6d4185" /><Relationship Type="http://schemas.openxmlformats.org/officeDocument/2006/relationships/slide" Target="/ppt/slides/slide1.xml" Id="R9d9831c8fc8e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33e1b340eb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dee2189d0543d2" /><Relationship Type="http://schemas.openxmlformats.org/officeDocument/2006/relationships/notesMaster" Target="/ppt/notesMasters/notesMaster1.xml" Id="R752dc10937eb46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040887c4e4ee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2dc8a0631409c" /><Relationship Type="http://schemas.openxmlformats.org/officeDocument/2006/relationships/slideLayout" Target="/ppt/slideLayouts/slideLayout1.xml" Id="R684c4867847d436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c4867847d436a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edcb4e57c47c5" /><Relationship Type="http://schemas.openxmlformats.org/officeDocument/2006/relationships/notesSlide" Target="/ppt/notesSlides/notesSlide1.xml" Id="R87abdf1eacf24c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8ED766A9-9C5C-4FDD-AA4C-8DAF5A0E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B"/>
          </a:solidFill>
          <a:ln xmlns:a="http://schemas.openxmlformats.org/drawingml/2006/main" w="9525" cmpd="sng">
            <a:solidFill>
              <a:srgbClr val="F7FCFB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836E8F6D-4132-4AC2-B15C-BEEA6600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9EFB6487-F7D0-46B2-B2F8-E443F7A3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Papatyalar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F99EB0FA-BACA-4ECC-BD4E-B15F6FDB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"/>
            <a:ext cx="638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Hybrid Retrieval for Financial Question Search</a:t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B8FC111A-AC19-4604-9755-55F4DC5E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DDF7F2"/>
                </a:solidFill>
                <a:latin typeface="Arial"/>
                <a:ea typeface="Arial"/>
                <a:cs typeface="Arial"/>
              </a:rPr>
              <a:t>FiQA full corpus: 57,638 docs, </a:t>
            </a:r>
            <a:r>
              <a:rPr sz="975">
                <a:solidFill>
                  <a:srgbClr val="DDF7F2"/>
                </a:solidFill>
              </a:rPr>
              <a:t>6,648 queries </a:t>
            </a:r>
            <a:r>
              <a:rPr sz="975" b="0">
                <a:solidFill>
                  <a:srgbClr val="DDF7F2"/>
                </a:solidFill>
                <a:latin typeface="Arial"/>
                <a:ea typeface="Arial"/>
                <a:cs typeface="Arial"/>
              </a:rPr>
              <a:t>| full dev/test evaluation | final demo uses top-10 ranked documents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E04A97C1-554F-4FED-818E-E584317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 cmpd="sng">
            <a:solidFill>
              <a:srgbClr val="DDF7F2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B5D85219-6095-44B4-A241-55F05CF0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6225"/>
            <a:ext cx="1676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DDF7F2"/>
                </a:solidFill>
                <a:latin typeface="Arial"/>
                <a:ea typeface="Arial"/>
                <a:cs typeface="Arial"/>
              </a:rPr>
              <a:t>Best test nDCG@20</a:t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68CF461-1397-4ED3-B749-F810430D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8625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FFFFFF"/>
                </a:solidFill>
                <a:latin typeface="Play"/>
                <a:ea typeface="Play"/>
                <a:cs typeface="Play"/>
              </a:rPr>
              <a:t>0.5079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066F5CDF-A3B8-41BA-99A8-33728BC6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35242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3574E14D-1E0C-4E11-97FA-93CF5505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181100"/>
            <a:ext cx="35242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2052BBA2-D6C1-4637-B0D8-A6712E1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81100"/>
            <a:ext cx="35242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2B943689-2400-403E-91DB-9B12A143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07CF40E2-2A1C-4A06-8B85-18343F9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MAIN IDEA + MOTIVATION</a:t>
            </a: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A9514D19-F5E6-4852-9A2E-43B4325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105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34E4A"/>
                </a:solidFill>
                <a:latin typeface="Play"/>
                <a:ea typeface="Play"/>
                <a:cs typeface="Play"/>
              </a:rPr>
              <a:t>Financial questions need exact terms and semantic matching.</a:t>
            </a:r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9083C1AC-82E8-4B97-BB06-FA24FD7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87E243EF-160F-4AD8-BE32-EC8FE3E1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BM25 catches lexical signals such as APR, 401(k), tax terms, account names, and percentages.</a:t>
            </a:r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1E355D3F-4AAA-4C0C-8064-932B8EDC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DFE949E7-8236-4624-A6D1-31448966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Dense retrieval catches paraphrases where relevant documents use different wording from the query.</a:t>
            </a:r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780DD986-57B4-4A59-9F31-232EF56D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528B6B45-A598-4EAF-AC20-1CCA078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The task is ranked document search: return top FiQA documents for a user query.</a:t>
            </a:r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6C9F1A1D-26FD-44AF-A39C-1ADC82EB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3105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3">
            <a:extLst xmlns:a="http://schemas.openxmlformats.org/drawingml/2006/main">
              <a:ext uri="{FF2B5EF4-FFF2-40B4-BE49-F238E27FC236}">
                <a16:creationId xmlns:a16="http://schemas.microsoft.com/office/drawing/2014/main" id="{56BDC853-4B0C-4D2E-B42E-76D8169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Final demo</a:t>
            </a:r>
          </a:p>
        </p:txBody>
      </p: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A930EC4C-C496-4DD5-8899-70D174C7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Simple Python desktop app: search bar + top 10 ranked FiQA documents.</a:t>
            </a:r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66497A72-E09E-4D61-AF66-664867B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906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" name="Google Shape;40;p3">
            <a:extLst xmlns:a="http://schemas.openxmlformats.org/drawingml/2006/main">
              <a:ext uri="{FF2B5EF4-FFF2-40B4-BE49-F238E27FC236}">
                <a16:creationId xmlns:a16="http://schemas.microsoft.com/office/drawing/2014/main" id="{F84CF668-DBEF-4F55-B351-646FAF12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41" name="Google Shape;41;p3">
            <a:extLst xmlns:a="http://schemas.openxmlformats.org/drawingml/2006/main">
              <a:ext uri="{FF2B5EF4-FFF2-40B4-BE49-F238E27FC236}">
                <a16:creationId xmlns:a16="http://schemas.microsoft.com/office/drawing/2014/main" id="{87F9F380-F110-4ACB-B2D2-730065BD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71650"/>
            <a:ext cx="3105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Two first-stage rankers, then rank-level fusion.</a:t>
            </a:r>
          </a:p>
        </p:txBody>
      </p:sp>
      <p:sp>
        <p:nvSpPr>
          <p:cNvPr id="42" name="Google Shape;42;p3">
            <a:extLst xmlns:a="http://schemas.openxmlformats.org/drawingml/2006/main">
              <a:ext uri="{FF2B5EF4-FFF2-40B4-BE49-F238E27FC236}">
                <a16:creationId xmlns:a16="http://schemas.microsoft.com/office/drawing/2014/main" id="{322534C5-9005-4922-956D-A7AC8849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3">
            <a:extLst xmlns:a="http://schemas.openxmlformats.org/drawingml/2006/main">
              <a:ext uri="{FF2B5EF4-FFF2-40B4-BE49-F238E27FC236}">
                <a16:creationId xmlns:a16="http://schemas.microsoft.com/office/drawing/2014/main" id="{97CD6646-0606-4A76-B9DD-C92290A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47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FiQA corpus + qrels</a:t>
            </a:r>
          </a:p>
        </p:txBody>
      </p:sp>
      <p:sp>
        <p:nvSpPr>
          <p:cNvPr id="44" name="Google Shape;44;p3">
            <a:extLst xmlns:a="http://schemas.openxmlformats.org/drawingml/2006/main">
              <a:ext uri="{FF2B5EF4-FFF2-40B4-BE49-F238E27FC236}">
                <a16:creationId xmlns:a16="http://schemas.microsoft.com/office/drawing/2014/main" id="{FD048F1A-9B2F-4AC8-90D3-2EE35B75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63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57,638 docs; train/dev/test splits</a:t>
            </a:r>
          </a:p>
        </p:txBody>
      </p:sp>
      <p:sp>
        <p:nvSpPr>
          <p:cNvPr id="45" name="Google Shape;45;p3">
            <a:extLst xmlns:a="http://schemas.openxmlformats.org/drawingml/2006/main">
              <a:ext uri="{FF2B5EF4-FFF2-40B4-BE49-F238E27FC236}">
                <a16:creationId xmlns:a16="http://schemas.microsoft.com/office/drawing/2014/main" id="{3AFA71D2-6C30-4290-9BDD-50E834B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3">
            <a:extLst xmlns:a="http://schemas.openxmlformats.org/drawingml/2006/main">
              <a:ext uri="{FF2B5EF4-FFF2-40B4-BE49-F238E27FC236}">
                <a16:creationId xmlns:a16="http://schemas.microsoft.com/office/drawing/2014/main" id="{849EDB7E-A6AB-49ED-A6F0-8FF909B8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" name="Google Shape;47;p3">
            <a:extLst xmlns:a="http://schemas.openxmlformats.org/drawingml/2006/main">
              <a:ext uri="{FF2B5EF4-FFF2-40B4-BE49-F238E27FC236}">
                <a16:creationId xmlns:a16="http://schemas.microsoft.com/office/drawing/2014/main" id="{59DD8990-F38C-4684-A59E-835DB882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956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BM25 candidates</a:t>
            </a:r>
          </a:p>
        </p:txBody>
      </p:sp>
      <p:sp>
        <p:nvSpPr>
          <p:cNvPr id="48" name="Google Shape;48;p3">
            <a:extLst xmlns:a="http://schemas.openxmlformats.org/drawingml/2006/main">
              <a:ext uri="{FF2B5EF4-FFF2-40B4-BE49-F238E27FC236}">
                <a16:creationId xmlns:a16="http://schemas.microsoft.com/office/drawing/2014/main" id="{CF272369-A58C-4CB3-A91D-CF2E986C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63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rank_bm25 sparse lexical retrieval</a:t>
            </a:r>
          </a:p>
        </p:txBody>
      </p:sp>
      <p:sp>
        <p:nvSpPr>
          <p:cNvPr id="49" name="Google Shape;49;p3">
            <a:extLst xmlns:a="http://schemas.openxmlformats.org/drawingml/2006/main">
              <a:ext uri="{FF2B5EF4-FFF2-40B4-BE49-F238E27FC236}">
                <a16:creationId xmlns:a16="http://schemas.microsoft.com/office/drawing/2014/main" id="{9B9C2500-BE4A-43E4-BBA6-C2C9426A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" name="Google Shape;50;p3">
            <a:extLst xmlns:a="http://schemas.openxmlformats.org/drawingml/2006/main">
              <a:ext uri="{FF2B5EF4-FFF2-40B4-BE49-F238E27FC236}">
                <a16:creationId xmlns:a16="http://schemas.microsoft.com/office/drawing/2014/main" id="{5B1E7BDC-A058-4768-9453-DB4AA0D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" name="Google Shape;51;p3">
            <a:extLst xmlns:a="http://schemas.openxmlformats.org/drawingml/2006/main">
              <a:ext uri="{FF2B5EF4-FFF2-40B4-BE49-F238E27FC236}">
                <a16:creationId xmlns:a16="http://schemas.microsoft.com/office/drawing/2014/main" id="{ADECAB6D-F7F8-4168-A4EF-F08BCA5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433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Dense candidates</a:t>
            </a:r>
          </a:p>
        </p:txBody>
      </p:sp>
      <p:sp>
        <p:nvSpPr>
          <p:cNvPr id="52" name="Google Shape;52;p3">
            <a:extLst xmlns:a="http://schemas.openxmlformats.org/drawingml/2006/main">
              <a:ext uri="{FF2B5EF4-FFF2-40B4-BE49-F238E27FC236}">
                <a16:creationId xmlns:a16="http://schemas.microsoft.com/office/drawing/2014/main" id="{F1CDDD89-32AE-4705-827D-35DE4571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624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63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all-mpnet-base-v2 embeddings</a:t>
            </a:r>
          </a:p>
        </p:txBody>
      </p:sp>
      <p:sp>
        <p:nvSpPr>
          <p:cNvPr id="53" name="Google Shape;53;p3">
            <a:extLst xmlns:a="http://schemas.openxmlformats.org/drawingml/2006/main">
              <a:ext uri="{FF2B5EF4-FFF2-40B4-BE49-F238E27FC236}">
                <a16:creationId xmlns:a16="http://schemas.microsoft.com/office/drawing/2014/main" id="{9C0BBE2A-12B1-4914-B644-98DE41D1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3">
            <a:extLst xmlns:a="http://schemas.openxmlformats.org/drawingml/2006/main">
              <a:ext uri="{FF2B5EF4-FFF2-40B4-BE49-F238E27FC236}">
                <a16:creationId xmlns:a16="http://schemas.microsoft.com/office/drawing/2014/main" id="{6DD68738-658C-44AB-A0AB-9FCAC3F7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F"/>
          </a:solidFill>
          <a:ln xmlns:a="http://schemas.openxmlformats.org/drawingml/2006/main" w="19050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" name="Google Shape;55;p3">
            <a:extLst xmlns:a="http://schemas.openxmlformats.org/drawingml/2006/main">
              <a:ext uri="{FF2B5EF4-FFF2-40B4-BE49-F238E27FC236}">
                <a16:creationId xmlns:a16="http://schemas.microsoft.com/office/drawing/2014/main" id="{E96E3C26-AA3A-4960-95EB-21649905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910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Weighted RRF</a:t>
            </a:r>
          </a:p>
        </p:txBody>
      </p:sp>
      <p:sp>
        <p:nvSpPr>
          <p:cNvPr id="56" name="Google Shape;56;p3">
            <a:extLst xmlns:a="http://schemas.openxmlformats.org/drawingml/2006/main">
              <a:ext uri="{FF2B5EF4-FFF2-40B4-BE49-F238E27FC236}">
                <a16:creationId xmlns:a16="http://schemas.microsoft.com/office/drawing/2014/main" id="{29415D5D-0ED9-49E2-AF1D-1EA9715E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101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63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alpha=0.80, k=10, top 100</a:t>
            </a:r>
          </a:p>
        </p:txBody>
      </p:sp>
      <p:sp>
        <p:nvSpPr>
          <p:cNvPr id="57" name="Google Shape;57;p3">
            <a:extLst xmlns:a="http://schemas.openxmlformats.org/drawingml/2006/main">
              <a:ext uri="{FF2B5EF4-FFF2-40B4-BE49-F238E27FC236}">
                <a16:creationId xmlns:a16="http://schemas.microsoft.com/office/drawing/2014/main" id="{B72E46D8-99B6-45A9-8584-925A1F51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" name="Google Shape;58;p3">
            <a:extLst xmlns:a="http://schemas.openxmlformats.org/drawingml/2006/main">
              <a:ext uri="{FF2B5EF4-FFF2-40B4-BE49-F238E27FC236}">
                <a16:creationId xmlns:a16="http://schemas.microsoft.com/office/drawing/2014/main" id="{62FCF30B-77BA-45E5-8B03-0923D03C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720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" name="Google Shape;59;p3">
            <a:extLst xmlns:a="http://schemas.openxmlformats.org/drawingml/2006/main">
              <a:ext uri="{FF2B5EF4-FFF2-40B4-BE49-F238E27FC236}">
                <a16:creationId xmlns:a16="http://schemas.microsoft.com/office/drawing/2014/main" id="{864417F5-E9B7-47C9-BCBD-592104D4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387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Top 10 documents</a:t>
            </a:r>
          </a:p>
        </p:txBody>
      </p:sp>
      <p:sp>
        <p:nvSpPr>
          <p:cNvPr id="60" name="Google Shape;60;p3">
            <a:extLst xmlns:a="http://schemas.openxmlformats.org/drawingml/2006/main">
              <a:ext uri="{FF2B5EF4-FFF2-40B4-BE49-F238E27FC236}">
                <a16:creationId xmlns:a16="http://schemas.microsoft.com/office/drawing/2014/main" id="{E2D88B74-A546-46D8-8006-AC213399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578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63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shown in the desktop app</a:t>
            </a:r>
          </a:p>
        </p:txBody>
      </p:sp>
      <p:sp>
        <p:nvSpPr>
          <p:cNvPr id="61" name="Google Shape;61;p3">
            <a:extLst xmlns:a="http://schemas.openxmlformats.org/drawingml/2006/main">
              <a:ext uri="{FF2B5EF4-FFF2-40B4-BE49-F238E27FC236}">
                <a16:creationId xmlns:a16="http://schemas.microsoft.com/office/drawing/2014/main" id="{211C0233-2F9A-4358-B764-7384D194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102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5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Reranking and fine-tuning were tested, but not selected for the final demo.</a:t>
            </a:r>
          </a:p>
        </p:txBody>
      </p:sp>
      <p:sp>
        <p:nvSpPr>
          <p:cNvPr id="62" name="Google Shape;62;p3">
            <a:extLst xmlns:a="http://schemas.openxmlformats.org/drawingml/2006/main">
              <a:ext uri="{FF2B5EF4-FFF2-40B4-BE49-F238E27FC236}">
                <a16:creationId xmlns:a16="http://schemas.microsoft.com/office/drawing/2014/main" id="{E2880A2A-5228-4D05-BA3C-C778786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3" name="Google Shape;63;p3">
            <a:extLst xmlns:a="http://schemas.openxmlformats.org/drawingml/2006/main">
              <a:ext uri="{FF2B5EF4-FFF2-40B4-BE49-F238E27FC236}">
                <a16:creationId xmlns:a16="http://schemas.microsoft.com/office/drawing/2014/main" id="{48823DA0-70D2-4009-A797-D549F7EC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KEY RESULTS</a:t>
            </a:r>
          </a:p>
        </p:txBody>
      </p:sp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9C77515D-409B-40AC-8E5C-95CAB9F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716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Final system: Hybrid + weighted RRF.</a:t>
            </a:r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6AE92FDA-1E2A-4486-98FD-C3CD8608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BD8BBD5F-21AC-4F07-B1C1-8DEA55E8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nDCG@10</a:t>
            </a:r>
          </a:p>
        </p:txBody>
      </p:sp>
      <p:sp>
        <p:nvSpPr>
          <p:cNvPr id="67" name="Google Shape;67;p3">
            <a:extLst xmlns:a="http://schemas.openxmlformats.org/drawingml/2006/main">
              <a:ext uri="{FF2B5EF4-FFF2-40B4-BE49-F238E27FC236}">
                <a16:creationId xmlns:a16="http://schemas.microsoft.com/office/drawing/2014/main" id="{FE55CC59-F71F-494E-AC1D-B0111E47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0.4743</a:t>
            </a:r>
          </a:p>
        </p:txBody>
      </p:sp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DD2CFDAD-F5C0-42DE-B58E-1E3B1551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1D17D6F0-600E-4B7A-B51C-2ABE002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DDF7F2"/>
                </a:solidFill>
                <a:latin typeface="Arial"/>
                <a:ea typeface="Arial"/>
                <a:cs typeface="Arial"/>
              </a:rPr>
              <a:t>nDCG@20</a:t>
            </a:r>
          </a:p>
        </p:txBody>
      </p:sp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80C6284E-6E50-4FFE-B5F1-E317C9F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336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FFFFFF"/>
                </a:solidFill>
                <a:latin typeface="Play"/>
                <a:ea typeface="Play"/>
                <a:cs typeface="Play"/>
              </a:rPr>
              <a:t>0.5079</a:t>
            </a:r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2D16FDF3-F793-4ACF-92B7-E501BA88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72" name="Google Shape;72;p3">
            <a:extLst xmlns:a="http://schemas.openxmlformats.org/drawingml/2006/main">
              <a:ext uri="{FF2B5EF4-FFF2-40B4-BE49-F238E27FC236}">
                <a16:creationId xmlns:a16="http://schemas.microsoft.com/office/drawing/2014/main" id="{C0CDB62F-C1B3-4DE4-94D2-AC88CC22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38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0.4127</a:t>
            </a:r>
          </a:p>
        </p:txBody>
      </p:sp>
      <p:sp>
        <p:nvSpPr>
          <p:cNvPr id="73" name="Google Shape;73;p3">
            <a:extLst xmlns:a="http://schemas.openxmlformats.org/drawingml/2006/main">
              <a:ext uri="{FF2B5EF4-FFF2-40B4-BE49-F238E27FC236}">
                <a16:creationId xmlns:a16="http://schemas.microsoft.com/office/drawing/2014/main" id="{1E82312C-AE9A-4645-B5F4-B5D9CB1D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R@100</a:t>
            </a:r>
          </a:p>
        </p:txBody>
      </p:sp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3A6DFEC4-1921-480F-A365-34EF7B6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38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0.8208</a:t>
            </a: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A3253785-D351-43D5-94BA-94A06F68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3105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C7316249-47D5-42DA-8A4F-29AAB0A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2800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Test query check: QID 10596</a:t>
            </a:r>
          </a:p>
        </p:txBody>
      </p: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705EAC11-DC69-4CFE-B750-B6E736D8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Does a market maker sell (buy) at a bid or ask price?</a:t>
            </a: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D795D585-C533-4B8A-8C75-E5C170E3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3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Best model top 10 doc IDs</a:t>
            </a: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AC465EB2-5BB1-4244-AB0D-CCC07828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3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Ground truth relevant IDs</a:t>
            </a:r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C292BEA5-22D9-4B6A-A753-3EE7BC5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01. 208070  hit</a:t>
            </a: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612E5B34-391E-42ED-BC06-48C17B98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534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02. 316838  hit</a:t>
            </a: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CC2032E8-C950-4899-BEC5-D027EAE2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583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03. 164008  hit</a:t>
            </a: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833F8A00-2558-4C29-9AE7-A26552B9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4632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04. 284235  hit</a:t>
            </a: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C4976C9B-7C91-499A-922D-8E4DA14B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681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05. 565568</a:t>
            </a: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9634EC9A-857C-495D-8F39-D60A1329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06. 413041  hit</a:t>
            </a:r>
          </a:p>
        </p:txBody>
      </p:sp>
      <p:sp>
        <p:nvSpPr>
          <p:cNvPr id="86" name="Google Shape;86;p3">
            <a:extLst xmlns:a="http://schemas.openxmlformats.org/drawingml/2006/main">
              <a:ext uri="{FF2B5EF4-FFF2-40B4-BE49-F238E27FC236}">
                <a16:creationId xmlns:a16="http://schemas.microsoft.com/office/drawing/2014/main" id="{3D919CE6-0FED-40DB-BAFF-68A136D8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7779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07. 53041</a:t>
            </a:r>
          </a:p>
        </p:txBody>
      </p:sp>
      <p:sp>
        <p:nvSpPr>
          <p:cNvPr id="87" name="Google Shape;87;p3">
            <a:extLst xmlns:a="http://schemas.openxmlformats.org/drawingml/2006/main">
              <a:ext uri="{FF2B5EF4-FFF2-40B4-BE49-F238E27FC236}">
                <a16:creationId xmlns:a16="http://schemas.microsoft.com/office/drawing/2014/main" id="{D5490866-DDE3-4AF3-882F-4438DC0B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828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08. 7561</a:t>
            </a:r>
          </a:p>
        </p:txBody>
      </p:sp>
      <p:sp>
        <p:nvSpPr>
          <p:cNvPr id="88" name="Google Shape;88;p3">
            <a:extLst xmlns:a="http://schemas.openxmlformats.org/drawingml/2006/main">
              <a:ext uri="{FF2B5EF4-FFF2-40B4-BE49-F238E27FC236}">
                <a16:creationId xmlns:a16="http://schemas.microsoft.com/office/drawing/2014/main" id="{846F0FFB-8B8E-4E15-B7B8-011AC953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877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09. 112714</a:t>
            </a:r>
          </a:p>
        </p:txBody>
      </p:sp>
      <p:sp>
        <p:nvSpPr>
          <p:cNvPr id="89" name="Google Shape;89;p3">
            <a:extLst xmlns:a="http://schemas.openxmlformats.org/drawingml/2006/main">
              <a:ext uri="{FF2B5EF4-FFF2-40B4-BE49-F238E27FC236}">
                <a16:creationId xmlns:a16="http://schemas.microsoft.com/office/drawing/2014/main" id="{93EF8A81-B213-414B-9D2F-B0C5F8E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0926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45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10. 427747</a:t>
            </a:r>
          </a:p>
        </p:txBody>
      </p:sp>
      <p:sp>
        <p:nvSpPr>
          <p:cNvPr id="90" name="Google Shape;90;p3">
            <a:extLst xmlns:a="http://schemas.openxmlformats.org/drawingml/2006/main">
              <a:ext uri="{FF2B5EF4-FFF2-40B4-BE49-F238E27FC236}">
                <a16:creationId xmlns:a16="http://schemas.microsoft.com/office/drawing/2014/main" id="{C7EB6D6D-7E9B-48A3-8A8B-FE5DE05C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148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208070  found</a:t>
            </a:r>
          </a:p>
        </p:txBody>
      </p:sp>
      <p:sp>
        <p:nvSpPr>
          <p:cNvPr id="91" name="Google Shape;91;p3">
            <a:extLst xmlns:a="http://schemas.openxmlformats.org/drawingml/2006/main">
              <a:ext uri="{FF2B5EF4-FFF2-40B4-BE49-F238E27FC236}">
                <a16:creationId xmlns:a16="http://schemas.microsoft.com/office/drawing/2014/main" id="{AE496BEE-72BD-49BE-A00B-6D5658E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863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316838  found</a:t>
            </a:r>
          </a:p>
        </p:txBody>
      </p:sp>
      <p:sp>
        <p:nvSpPr>
          <p:cNvPr id="92" name="Google Shape;92;p3">
            <a:extLst xmlns:a="http://schemas.openxmlformats.org/drawingml/2006/main">
              <a:ext uri="{FF2B5EF4-FFF2-40B4-BE49-F238E27FC236}">
                <a16:creationId xmlns:a16="http://schemas.microsoft.com/office/drawing/2014/main" id="{A31B22F4-99CE-4ED4-9135-972F494D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57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164008  found</a:t>
            </a:r>
          </a:p>
        </p:txBody>
      </p:sp>
      <p:sp>
        <p:nvSpPr>
          <p:cNvPr id="93" name="Google Shape;93;p3">
            <a:extLst xmlns:a="http://schemas.openxmlformats.org/drawingml/2006/main">
              <a:ext uri="{FF2B5EF4-FFF2-40B4-BE49-F238E27FC236}">
                <a16:creationId xmlns:a16="http://schemas.microsoft.com/office/drawing/2014/main" id="{AFC226E1-F5C1-4928-95C6-704F625B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29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284235  found</a:t>
            </a:r>
          </a:p>
        </p:txBody>
      </p:sp>
      <p:sp>
        <p:nvSpPr>
          <p:cNvPr id="94" name="Google Shape;94;p3">
            <a:extLst xmlns:a="http://schemas.openxmlformats.org/drawingml/2006/main">
              <a:ext uri="{FF2B5EF4-FFF2-40B4-BE49-F238E27FC236}">
                <a16:creationId xmlns:a16="http://schemas.microsoft.com/office/drawing/2014/main" id="{6185FA26-5DA9-4521-9384-7922446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5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413041  found</a:t>
            </a:r>
          </a:p>
        </p:txBody>
      </p:sp>
      <p:sp>
        <p:nvSpPr>
          <p:cNvPr id="95" name="Google Shape;95;p3">
            <a:extLst xmlns:a="http://schemas.openxmlformats.org/drawingml/2006/main">
              <a:ext uri="{FF2B5EF4-FFF2-40B4-BE49-F238E27FC236}">
                <a16:creationId xmlns:a16="http://schemas.microsoft.com/office/drawing/2014/main" id="{91B579B2-28F6-48F4-B5C8-38795A04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911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90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Hit@10: 5/5 relevant docs found; 5 extra docs were unjudged.</a:t>
            </a:r>
          </a:p>
        </p:txBody>
      </p:sp>
      <p:sp>
        <p:nvSpPr>
          <p:cNvPr id="96" name="Google Shape;96;p3">
            <a:extLst xmlns:a="http://schemas.openxmlformats.org/drawingml/2006/main">
              <a:ext uri="{FF2B5EF4-FFF2-40B4-BE49-F238E27FC236}">
                <a16:creationId xmlns:a16="http://schemas.microsoft.com/office/drawing/2014/main" id="{DA2D3FA4-10E4-498A-A6FF-D36D6679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E4A"/>
          </a:solidFill>
          <a:ln xmlns:a="http://schemas.openxmlformats.org/drawingml/2006/main" w="9525" cmpd="sng">
            <a:solidFill>
              <a:srgbClr val="134E4A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3">
            <a:extLst xmlns:a="http://schemas.openxmlformats.org/drawingml/2006/main">
              <a:ext uri="{FF2B5EF4-FFF2-40B4-BE49-F238E27FC236}">
                <a16:creationId xmlns:a16="http://schemas.microsoft.com/office/drawing/2014/main" id="{57DCF5C3-C0D4-496B-9BEC-F2B5D43A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B9EFE6"/>
                </a:solidFill>
                <a:latin typeface="Arial"/>
                <a:ea typeface="Arial"/>
                <a:cs typeface="Arial"/>
              </a:rPr>
              <a:t>Final choice</a:t>
            </a:r>
          </a:p>
        </p:txBody>
      </p:sp>
      <p:sp>
        <p:nvSpPr>
          <p:cNvPr id="98" name="Google Shape;98;p3">
            <a:extLst xmlns:a="http://schemas.openxmlformats.org/drawingml/2006/main">
              <a:ext uri="{FF2B5EF4-FFF2-40B4-BE49-F238E27FC236}">
                <a16:creationId xmlns:a16="http://schemas.microsoft.com/office/drawing/2014/main" id="{A3D8C26C-9391-4CDC-98A0-ADCA229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8175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all-mpnet-base-v2 + BM25 weighted RRF (alpha=0.80); no ms-marco-electra-base reranker in final demo.</a:t>
            </a:r>
          </a:p>
        </p:txBody>
      </p:sp>
      <p:sp>
        <p:nvSpPr>
          <p:cNvPr id="99" name="Google Shape;99;p3">
            <a:extLst xmlns:a="http://schemas.openxmlformats.org/drawingml/2006/main">
              <a:ext uri="{FF2B5EF4-FFF2-40B4-BE49-F238E27FC236}">
                <a16:creationId xmlns:a16="http://schemas.microsoft.com/office/drawing/2014/main" id="{260BC2EF-05EB-4038-93AC-B2CD8D1E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419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DDF7F2"/>
                </a:solidFill>
                <a:latin typeface="Arial"/>
                <a:ea typeface="Arial"/>
                <a:cs typeface="Arial"/>
              </a:rPr>
              <a:t>Team Papatyalar | CENG 596</a:t>
            </a:r>
          </a:p>
        </p:txBody>
      </p:sp>
      <p:sp>
        <p:nvSpPr>
          <p:cNvPr id="100" name="Google Shape;100;p3">
            <a:extLst xmlns:a="http://schemas.openxmlformats.org/drawingml/2006/main">
              <a:ext uri="{FF2B5EF4-FFF2-40B4-BE49-F238E27FC236}">
                <a16:creationId xmlns:a16="http://schemas.microsoft.com/office/drawing/2014/main" id="{C66D9A81-6309-412D-BDC9-ADA768B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105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3">
            <a:extLst xmlns:a="http://schemas.openxmlformats.org/drawingml/2006/main">
              <a:ext uri="{FF2B5EF4-FFF2-40B4-BE49-F238E27FC236}">
                <a16:creationId xmlns:a16="http://schemas.microsoft.com/office/drawing/2014/main" id="{0DD36D51-AE3E-4A7D-B113-252A72A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Test model comparison</a:t>
            </a:r>
          </a:p>
        </p:txBody>
      </p:sp>
      <p:sp>
        <p:nvSpPr>
          <p:cNvPr id="102" name="Google Shape;102;p3">
            <a:extLst xmlns:a="http://schemas.openxmlformats.org/drawingml/2006/main">
              <a:ext uri="{FF2B5EF4-FFF2-40B4-BE49-F238E27FC236}">
                <a16:creationId xmlns:a16="http://schemas.microsoft.com/office/drawing/2014/main" id="{8092D886-5CD9-4B1A-A2F9-0E561A3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70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nDCG@20 on held-out test</a:t>
            </a:r>
          </a:p>
        </p:txBody>
      </p:sp>
      <p:sp>
        <p:nvSpPr>
          <p:cNvPr id="103" name="Google Shape;103;p3">
            <a:extLst xmlns:a="http://schemas.openxmlformats.org/drawingml/2006/main">
              <a:ext uri="{FF2B5EF4-FFF2-40B4-BE49-F238E27FC236}">
                <a16:creationId xmlns:a16="http://schemas.microsoft.com/office/drawing/2014/main" id="{52F81AEF-2246-4F96-B495-CC4754E5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76525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1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104" name="Google Shape;104;p3">
            <a:extLst xmlns:a="http://schemas.openxmlformats.org/drawingml/2006/main">
              <a:ext uri="{FF2B5EF4-FFF2-40B4-BE49-F238E27FC236}">
                <a16:creationId xmlns:a16="http://schemas.microsoft.com/office/drawing/2014/main" id="{0FB74A20-C25F-465B-831B-A67757A0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4115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6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3">
            <a:extLst xmlns:a="http://schemas.openxmlformats.org/drawingml/2006/main">
              <a:ext uri="{FF2B5EF4-FFF2-40B4-BE49-F238E27FC236}">
                <a16:creationId xmlns:a16="http://schemas.microsoft.com/office/drawing/2014/main" id="{25447E05-9FDA-41D1-9C15-E557C8DF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400" y="26670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1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0.2235</a:t>
            </a:r>
          </a:p>
        </p:txBody>
      </p:sp>
      <p:sp>
        <p:nvSpPr>
          <p:cNvPr id="106" name="Google Shape;106;p3">
            <a:extLst xmlns:a="http://schemas.openxmlformats.org/drawingml/2006/main">
              <a:ext uri="{FF2B5EF4-FFF2-40B4-BE49-F238E27FC236}">
                <a16:creationId xmlns:a16="http://schemas.microsoft.com/office/drawing/2014/main" id="{7EB52521-B4BB-4A56-B067-204177E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25115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1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107" name="Google Shape;107;p3">
            <a:extLst xmlns:a="http://schemas.openxmlformats.org/drawingml/2006/main">
              <a:ext uri="{FF2B5EF4-FFF2-40B4-BE49-F238E27FC236}">
                <a16:creationId xmlns:a16="http://schemas.microsoft.com/office/drawing/2014/main" id="{612E397B-7F4A-4222-9315-C23BC7AF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3690"/>
            <a:ext cx="967524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3">
            <a:extLst xmlns:a="http://schemas.openxmlformats.org/drawingml/2006/main">
              <a:ext uri="{FF2B5EF4-FFF2-40B4-BE49-F238E27FC236}">
                <a16:creationId xmlns:a16="http://schemas.microsoft.com/office/drawing/2014/main" id="{0994CFEF-83B1-4175-B07C-6B64B733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349" y="281559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1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0.4983</a:t>
            </a:r>
          </a:p>
        </p:txBody>
      </p:sp>
      <p:sp>
        <p:nvSpPr>
          <p:cNvPr id="109" name="Google Shape;109;p3">
            <a:extLst xmlns:a="http://schemas.openxmlformats.org/drawingml/2006/main">
              <a:ext uri="{FF2B5EF4-FFF2-40B4-BE49-F238E27FC236}">
                <a16:creationId xmlns:a16="http://schemas.microsoft.com/office/drawing/2014/main" id="{BFE7150E-305D-4DFD-9849-F998807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3705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1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Dense + rerank</a:t>
            </a:r>
          </a:p>
        </p:txBody>
      </p:sp>
      <p:sp>
        <p:nvSpPr>
          <p:cNvPr id="110" name="Google Shape;110;p3">
            <a:extLst xmlns:a="http://schemas.openxmlformats.org/drawingml/2006/main">
              <a:ext uri="{FF2B5EF4-FFF2-40B4-BE49-F238E27FC236}">
                <a16:creationId xmlns:a16="http://schemas.microsoft.com/office/drawing/2014/main" id="{014FFB7E-7288-4798-AB7D-B8D5DB82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2280"/>
            <a:ext cx="785584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E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3">
            <a:extLst xmlns:a="http://schemas.openxmlformats.org/drawingml/2006/main">
              <a:ext uri="{FF2B5EF4-FFF2-40B4-BE49-F238E27FC236}">
                <a16:creationId xmlns:a16="http://schemas.microsoft.com/office/drawing/2014/main" id="{2497FEBB-EAD3-4CEE-AEF2-C1D2FD1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409" y="296418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1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0.4228</a:t>
            </a:r>
          </a:p>
        </p:txBody>
      </p:sp>
      <p:sp>
        <p:nvSpPr>
          <p:cNvPr id="112" name="Google Shape;112;p3">
            <a:extLst xmlns:a="http://schemas.openxmlformats.org/drawingml/2006/main">
              <a:ext uri="{FF2B5EF4-FFF2-40B4-BE49-F238E27FC236}">
                <a16:creationId xmlns:a16="http://schemas.microsoft.com/office/drawing/2014/main" id="{C00FEF5D-B6B5-46FF-99DB-8BCCDE1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2295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1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RRF</a:t>
            </a:r>
          </a:p>
        </p:txBody>
      </p:sp>
      <p:sp>
        <p:nvSpPr>
          <p:cNvPr id="113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7E7F6566-78E6-4D25-9105-0AC1E22F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50870"/>
            <a:ext cx="77416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" name="Google Shape;114;p3">
            <a:extLst xmlns:a="http://schemas.openxmlformats.org/drawingml/2006/main">
              <a:ext uri="{FF2B5EF4-FFF2-40B4-BE49-F238E27FC236}">
                <a16:creationId xmlns:a16="http://schemas.microsoft.com/office/drawing/2014/main" id="{88F66C6E-D0B0-4338-9832-283DF7CD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992" y="311277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1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0.4126</a:t>
            </a:r>
          </a:p>
        </p:txBody>
      </p:sp>
      <p:sp>
        <p:nvSpPr>
          <p:cNvPr id="115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FF5C5D1D-E322-4C50-9EEA-81C22B40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0885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1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RRF+rerank</a:t>
            </a:r>
          </a:p>
        </p:txBody>
      </p:sp>
      <p:sp>
        <p:nvSpPr>
          <p:cNvPr id="11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C64074D2-F68B-409B-B99C-81FF40F8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9460"/>
            <a:ext cx="772141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A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3">
            <a:extLst xmlns:a="http://schemas.openxmlformats.org/drawingml/2006/main">
              <a:ext uri="{FF2B5EF4-FFF2-40B4-BE49-F238E27FC236}">
                <a16:creationId xmlns:a16="http://schemas.microsoft.com/office/drawing/2014/main" id="{EDCBD175-943D-4A0C-B300-9463C83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66" y="326136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1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0.4039</a:t>
            </a:r>
          </a:p>
        </p:txBody>
      </p:sp>
      <p:sp>
        <p:nvSpPr>
          <p:cNvPr id="118" name="Google Shape;118;p3">
            <a:extLst xmlns:a="http://schemas.openxmlformats.org/drawingml/2006/main">
              <a:ext uri="{FF2B5EF4-FFF2-40B4-BE49-F238E27FC236}">
                <a16:creationId xmlns:a16="http://schemas.microsoft.com/office/drawing/2014/main" id="{A704CF1D-928B-47DD-B85E-016FB722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19475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1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Weighted RRF</a:t>
            </a:r>
          </a:p>
        </p:txBody>
      </p:sp>
      <p:sp>
        <p:nvSpPr>
          <p:cNvPr id="119" name="Google Shape;119;p3">
            <a:extLst xmlns:a="http://schemas.openxmlformats.org/drawingml/2006/main">
              <a:ext uri="{FF2B5EF4-FFF2-40B4-BE49-F238E27FC236}">
                <a16:creationId xmlns:a16="http://schemas.microsoft.com/office/drawing/2014/main" id="{30C01E55-84F9-4B0B-BCA9-579C9312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9743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3">
            <a:extLst xmlns:a="http://schemas.openxmlformats.org/drawingml/2006/main">
              <a:ext uri="{FF2B5EF4-FFF2-40B4-BE49-F238E27FC236}">
                <a16:creationId xmlns:a16="http://schemas.microsoft.com/office/drawing/2014/main" id="{0A0453B5-D8AA-4F24-8D72-B19012DE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163" y="340995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1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0.5079</a:t>
            </a:r>
          </a:p>
        </p:txBody>
      </p:sp>
      <p:sp>
        <p:nvSpPr>
          <p:cNvPr id="121" name="Google Shape;121;p3">
            <a:extLst xmlns:a="http://schemas.openxmlformats.org/drawingml/2006/main">
              <a:ext uri="{FF2B5EF4-FFF2-40B4-BE49-F238E27FC236}">
                <a16:creationId xmlns:a16="http://schemas.microsoft.com/office/drawing/2014/main" id="{724CEEBC-EA04-4259-8CB7-08805D5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8065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10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wRRF+rerank</a:t>
            </a:r>
          </a:p>
        </p:txBody>
      </p:sp>
      <p:sp>
        <p:nvSpPr>
          <p:cNvPr id="122" name="Google Shape;122;p3">
            <a:extLst xmlns:a="http://schemas.openxmlformats.org/drawingml/2006/main">
              <a:ext uri="{FF2B5EF4-FFF2-40B4-BE49-F238E27FC236}">
                <a16:creationId xmlns:a16="http://schemas.microsoft.com/office/drawing/2014/main" id="{A9ECF331-2DE0-4A19-A5CD-90319BCE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96640"/>
            <a:ext cx="778586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14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3">
            <a:extLst xmlns:a="http://schemas.openxmlformats.org/drawingml/2006/main">
              <a:ext uri="{FF2B5EF4-FFF2-40B4-BE49-F238E27FC236}">
                <a16:creationId xmlns:a16="http://schemas.microsoft.com/office/drawing/2014/main" id="{DC6B2CF6-0048-4D84-909C-4B7B12A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411" y="355854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1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0.4228</a:t>
            </a:r>
          </a:p>
        </p:txBody>
      </p:sp>
      <p:sp>
        <p:nvSpPr>
          <p:cNvPr id="124" name="Google Shape;124;p3">
            <a:extLst xmlns:a="http://schemas.openxmlformats.org/drawingml/2006/main">
              <a:ext uri="{FF2B5EF4-FFF2-40B4-BE49-F238E27FC236}">
                <a16:creationId xmlns:a16="http://schemas.microsoft.com/office/drawing/2014/main" id="{F48E1A22-B773-4DD9-AA06-2233A8E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181100"/>
            <a:ext cx="35242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5" name="Google Shape;125;p3">
            <a:extLst xmlns:a="http://schemas.openxmlformats.org/drawingml/2006/main">
              <a:ext uri="{FF2B5EF4-FFF2-40B4-BE49-F238E27FC236}">
                <a16:creationId xmlns:a16="http://schemas.microsoft.com/office/drawing/2014/main" id="{157B3FFA-6A49-429B-BCCA-720F183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906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6" name="Google Shape;126;p3">
            <a:extLst xmlns:a="http://schemas.openxmlformats.org/drawingml/2006/main">
              <a:ext uri="{FF2B5EF4-FFF2-40B4-BE49-F238E27FC236}">
                <a16:creationId xmlns:a16="http://schemas.microsoft.com/office/drawing/2014/main" id="{C91C6155-E143-450A-BB7D-2291630C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478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9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27" name="Google Shape;127;p3">
            <a:extLst xmlns:a="http://schemas.openxmlformats.org/drawingml/2006/main">
              <a:ext uri="{FF2B5EF4-FFF2-40B4-BE49-F238E27FC236}">
                <a16:creationId xmlns:a16="http://schemas.microsoft.com/office/drawing/2014/main" id="{5EFB8666-3A09-4EB1-BE86-9CB7DBC1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90" b="1">
                <a:solidFill>
                  <a:srgbClr val="134E4A"/>
                </a:solidFill>
                <a:latin typeface="Play"/>
                <a:ea typeface="Play"/>
                <a:cs typeface="Play"/>
              </a:rPr>
              <a:t>Two first-stage rankers + weighted fusion.</a:t>
            </a:r>
          </a:p>
        </p:txBody>
      </p:sp>
      <p:sp>
        <p:nvSpPr>
          <p:cNvPr id="128" name="Google Shape;128;p3">
            <a:extLst xmlns:a="http://schemas.openxmlformats.org/drawingml/2006/main">
              <a:ext uri="{FF2B5EF4-FFF2-40B4-BE49-F238E27FC236}">
                <a16:creationId xmlns:a16="http://schemas.microsoft.com/office/drawing/2014/main" id="{D847ACF9-29FC-49F1-9233-A89495C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272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9" name="Google Shape;129;p3">
            <a:extLst xmlns:a="http://schemas.openxmlformats.org/drawingml/2006/main">
              <a:ext uri="{FF2B5EF4-FFF2-40B4-BE49-F238E27FC236}">
                <a16:creationId xmlns:a16="http://schemas.microsoft.com/office/drawing/2014/main" id="{0209BE4A-AC4D-4935-A8C6-F0AD5687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FiQA corpus + qrels</a:t>
            </a:r>
          </a:p>
        </p:txBody>
      </p:sp>
      <p:sp>
        <p:nvSpPr>
          <p:cNvPr id="130" name="Google Shape;130;p3">
            <a:extLst xmlns:a="http://schemas.openxmlformats.org/drawingml/2006/main">
              <a:ext uri="{FF2B5EF4-FFF2-40B4-BE49-F238E27FC236}">
                <a16:creationId xmlns:a16="http://schemas.microsoft.com/office/drawing/2014/main" id="{432FA7F7-13DD-40DB-BE38-686EAD1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90775"/>
            <a:ext cx="2457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62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57,638 docs; train/dev/test splits</a:t>
            </a:r>
          </a:p>
        </p:txBody>
      </p:sp>
      <p:sp>
        <p:nvSpPr>
          <p:cNvPr id="131" name="Google Shape;131;p3">
            <a:extLst xmlns:a="http://schemas.openxmlformats.org/drawingml/2006/main">
              <a:ext uri="{FF2B5EF4-FFF2-40B4-BE49-F238E27FC236}">
                <a16:creationId xmlns:a16="http://schemas.microsoft.com/office/drawing/2014/main" id="{03BA3FD0-16DB-4817-BA44-5F73E004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24125"/>
            <a:ext cx="19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2" name="Google Shape;132;p3">
            <a:extLst xmlns:a="http://schemas.openxmlformats.org/drawingml/2006/main">
              <a:ext uri="{FF2B5EF4-FFF2-40B4-BE49-F238E27FC236}">
                <a16:creationId xmlns:a16="http://schemas.microsoft.com/office/drawing/2014/main" id="{56BB4852-F7C9-4F93-B571-17D72F9E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72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3">
            <a:extLst xmlns:a="http://schemas.openxmlformats.org/drawingml/2006/main">
              <a:ext uri="{FF2B5EF4-FFF2-40B4-BE49-F238E27FC236}">
                <a16:creationId xmlns:a16="http://schemas.microsoft.com/office/drawing/2014/main" id="{15194483-F086-4027-9328-E526A9CD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BM25 candidates</a:t>
            </a:r>
          </a:p>
        </p:txBody>
      </p:sp>
      <p:sp>
        <p:nvSpPr>
          <p:cNvPr id="134" name="Google Shape;134;p3">
            <a:extLst xmlns:a="http://schemas.openxmlformats.org/drawingml/2006/main">
              <a:ext uri="{FF2B5EF4-FFF2-40B4-BE49-F238E27FC236}">
                <a16:creationId xmlns:a16="http://schemas.microsoft.com/office/drawing/2014/main" id="{E3CB6420-68F3-4D97-B19A-1F84F7FC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52725"/>
            <a:ext cx="2457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62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rank_bm25 sparse retrieval</a:t>
            </a:r>
          </a:p>
        </p:txBody>
      </p:sp>
      <p:sp>
        <p:nvSpPr>
          <p:cNvPr id="135" name="Google Shape;135;p3">
            <a:extLst xmlns:a="http://schemas.openxmlformats.org/drawingml/2006/main">
              <a:ext uri="{FF2B5EF4-FFF2-40B4-BE49-F238E27FC236}">
                <a16:creationId xmlns:a16="http://schemas.microsoft.com/office/drawing/2014/main" id="{4D5D5EA0-319D-4B35-B45E-FF5D46E8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86075"/>
            <a:ext cx="19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6" name="Google Shape;136;p3">
            <a:extLst xmlns:a="http://schemas.openxmlformats.org/drawingml/2006/main">
              <a:ext uri="{FF2B5EF4-FFF2-40B4-BE49-F238E27FC236}">
                <a16:creationId xmlns:a16="http://schemas.microsoft.com/office/drawing/2014/main" id="{5A8B3110-2A06-403D-A3E9-9AC0BB8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272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7" name="Google Shape;137;p3">
            <a:extLst xmlns:a="http://schemas.openxmlformats.org/drawingml/2006/main">
              <a:ext uri="{FF2B5EF4-FFF2-40B4-BE49-F238E27FC236}">
                <a16:creationId xmlns:a16="http://schemas.microsoft.com/office/drawing/2014/main" id="{9E160AE1-C1A2-4BE5-8EB5-2B04C3F6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81325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Dense candidates</a:t>
            </a:r>
          </a:p>
        </p:txBody>
      </p:sp>
      <p:sp>
        <p:nvSpPr>
          <p:cNvPr id="138" name="Google Shape;138;p3">
            <a:extLst xmlns:a="http://schemas.openxmlformats.org/drawingml/2006/main">
              <a:ext uri="{FF2B5EF4-FFF2-40B4-BE49-F238E27FC236}">
                <a16:creationId xmlns:a16="http://schemas.microsoft.com/office/drawing/2014/main" id="{47C9E0C3-A51B-425E-BCAD-55CBD840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2457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62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all-mpnet-base-v2 embeddings</a:t>
            </a:r>
          </a:p>
        </p:txBody>
      </p:sp>
      <p:sp>
        <p:nvSpPr>
          <p:cNvPr id="139" name="Google Shape;139;p3">
            <a:extLst xmlns:a="http://schemas.openxmlformats.org/drawingml/2006/main">
              <a:ext uri="{FF2B5EF4-FFF2-40B4-BE49-F238E27FC236}">
                <a16:creationId xmlns:a16="http://schemas.microsoft.com/office/drawing/2014/main" id="{604D92E4-50BA-49E4-BBAE-41A3805A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48025"/>
            <a:ext cx="19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0" name="Google Shape;140;p3">
            <a:extLst xmlns:a="http://schemas.openxmlformats.org/drawingml/2006/main">
              <a:ext uri="{FF2B5EF4-FFF2-40B4-BE49-F238E27FC236}">
                <a16:creationId xmlns:a16="http://schemas.microsoft.com/office/drawing/2014/main" id="{8E90F6D4-A50A-4225-A4A3-8D1E15EB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272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F"/>
          </a:solidFill>
          <a:ln xmlns:a="http://schemas.openxmlformats.org/drawingml/2006/main" w="19050" cmpd="sng">
            <a:solidFill>
              <a:srgbClr val="0F766E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1" name="Google Shape;141;p3">
            <a:extLst xmlns:a="http://schemas.openxmlformats.org/drawingml/2006/main">
              <a:ext uri="{FF2B5EF4-FFF2-40B4-BE49-F238E27FC236}">
                <a16:creationId xmlns:a16="http://schemas.microsoft.com/office/drawing/2014/main" id="{0B57B1F4-8AB7-4E1B-98D4-07E3D230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8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Weighted RRF</a:t>
            </a:r>
          </a:p>
        </p:txBody>
      </p:sp>
      <p:sp>
        <p:nvSpPr>
          <p:cNvPr id="142" name="Google Shape;142;p3">
            <a:extLst xmlns:a="http://schemas.openxmlformats.org/drawingml/2006/main">
              <a:ext uri="{FF2B5EF4-FFF2-40B4-BE49-F238E27FC236}">
                <a16:creationId xmlns:a16="http://schemas.microsoft.com/office/drawing/2014/main" id="{3DC9C4F1-0CF6-40BB-BC45-EFCF313B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76625"/>
            <a:ext cx="2457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62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alpha=0.80, k=10, top 100</a:t>
            </a:r>
          </a:p>
        </p:txBody>
      </p:sp>
      <p:sp>
        <p:nvSpPr>
          <p:cNvPr id="143" name="Google Shape;143;p3">
            <a:extLst xmlns:a="http://schemas.openxmlformats.org/drawingml/2006/main">
              <a:ext uri="{FF2B5EF4-FFF2-40B4-BE49-F238E27FC236}">
                <a16:creationId xmlns:a16="http://schemas.microsoft.com/office/drawing/2014/main" id="{BBA0DCB8-F1B4-4DA1-9CE0-7B8C195A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19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4" name="Google Shape;144;p3">
            <a:extLst xmlns:a="http://schemas.openxmlformats.org/drawingml/2006/main">
              <a:ext uri="{FF2B5EF4-FFF2-40B4-BE49-F238E27FC236}">
                <a16:creationId xmlns:a16="http://schemas.microsoft.com/office/drawing/2014/main" id="{1FE2171B-14C3-458E-B619-C20E8E03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7600"/>
            <a:ext cx="272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D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5" name="Google Shape;145;p3">
            <a:extLst xmlns:a="http://schemas.openxmlformats.org/drawingml/2006/main">
              <a:ext uri="{FF2B5EF4-FFF2-40B4-BE49-F238E27FC236}">
                <a16:creationId xmlns:a16="http://schemas.microsoft.com/office/drawing/2014/main" id="{D6FC2818-4B02-49B0-B4C7-E149C36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8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Top 10 documents</a:t>
            </a:r>
          </a:p>
        </p:txBody>
      </p:sp>
      <p:sp>
        <p:nvSpPr>
          <p:cNvPr id="146" name="Google Shape;146;p3">
            <a:extLst xmlns:a="http://schemas.openxmlformats.org/drawingml/2006/main">
              <a:ext uri="{FF2B5EF4-FFF2-40B4-BE49-F238E27FC236}">
                <a16:creationId xmlns:a16="http://schemas.microsoft.com/office/drawing/2014/main" id="{939A10F4-E510-4DDC-AFF3-243F95B7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38575"/>
            <a:ext cx="2457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62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shown in the desktop app</a:t>
            </a:r>
          </a:p>
        </p:txBody>
      </p:sp>
      <p:sp>
        <p:nvSpPr>
          <p:cNvPr id="147" name="Google Shape;147;p3">
            <a:extLst xmlns:a="http://schemas.openxmlformats.org/drawingml/2006/main">
              <a:ext uri="{FF2B5EF4-FFF2-40B4-BE49-F238E27FC236}">
                <a16:creationId xmlns:a16="http://schemas.microsoft.com/office/drawing/2014/main" id="{229FE885-4D95-4C7E-A073-EEAF2163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1005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8" name="Google Shape;148;p3">
            <a:extLst xmlns:a="http://schemas.openxmlformats.org/drawingml/2006/main">
              <a:ext uri="{FF2B5EF4-FFF2-40B4-BE49-F238E27FC236}">
                <a16:creationId xmlns:a16="http://schemas.microsoft.com/office/drawing/2014/main" id="{42312C40-3FB5-4BD7-BDB6-E73B86B3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86250"/>
            <a:ext cx="1200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6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nDCG@10</a:t>
            </a:r>
          </a:p>
        </p:txBody>
      </p:sp>
      <p:sp>
        <p:nvSpPr>
          <p:cNvPr id="149" name="Google Shape;149;p3">
            <a:extLst xmlns:a="http://schemas.openxmlformats.org/drawingml/2006/main">
              <a:ext uri="{FF2B5EF4-FFF2-40B4-BE49-F238E27FC236}">
                <a16:creationId xmlns:a16="http://schemas.microsoft.com/office/drawing/2014/main" id="{56D1B1F5-58E0-466A-86B1-5B50C4C7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9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0.4743</a:t>
            </a:r>
          </a:p>
        </p:txBody>
      </p:sp>
      <p:sp>
        <p:nvSpPr>
          <p:cNvPr id="150" name="Google Shape;150;p3">
            <a:extLst xmlns:a="http://schemas.openxmlformats.org/drawingml/2006/main">
              <a:ext uri="{FF2B5EF4-FFF2-40B4-BE49-F238E27FC236}">
                <a16:creationId xmlns:a16="http://schemas.microsoft.com/office/drawing/2014/main" id="{BA16A5B6-568A-464E-8980-CB7D8F86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1005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1" name="Google Shape;151;p3">
            <a:extLst xmlns:a="http://schemas.openxmlformats.org/drawingml/2006/main">
              <a:ext uri="{FF2B5EF4-FFF2-40B4-BE49-F238E27FC236}">
                <a16:creationId xmlns:a16="http://schemas.microsoft.com/office/drawing/2014/main" id="{94AA70DA-A4CC-450D-83EC-9B5D3F96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1200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6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nDCG@20</a:t>
            </a:r>
          </a:p>
        </p:txBody>
      </p:sp>
      <p:sp>
        <p:nvSpPr>
          <p:cNvPr id="152" name="Google Shape;152;p3">
            <a:extLst xmlns:a="http://schemas.openxmlformats.org/drawingml/2006/main">
              <a:ext uri="{FF2B5EF4-FFF2-40B4-BE49-F238E27FC236}">
                <a16:creationId xmlns:a16="http://schemas.microsoft.com/office/drawing/2014/main" id="{7D3459BB-2FDB-42CC-8BED-7B874518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386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95" b="1">
                <a:solidFill>
                  <a:srgbClr val="FFFFFF"/>
                </a:solidFill>
                <a:latin typeface="Play"/>
                <a:ea typeface="Play"/>
                <a:cs typeface="Play"/>
              </a:rPr>
              <a:t>0.5079</a:t>
            </a:r>
          </a:p>
        </p:txBody>
      </p:sp>
      <p:sp>
        <p:nvSpPr>
          <p:cNvPr id="153" name="Google Shape;153;p3">
            <a:extLst xmlns:a="http://schemas.openxmlformats.org/drawingml/2006/main">
              <a:ext uri="{FF2B5EF4-FFF2-40B4-BE49-F238E27FC236}">
                <a16:creationId xmlns:a16="http://schemas.microsoft.com/office/drawing/2014/main" id="{2F01B0DF-8CE1-4ED2-ABF8-EA2A55F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3">
            <a:extLst xmlns:a="http://schemas.openxmlformats.org/drawingml/2006/main">
              <a:ext uri="{FF2B5EF4-FFF2-40B4-BE49-F238E27FC236}">
                <a16:creationId xmlns:a16="http://schemas.microsoft.com/office/drawing/2014/main" id="{02DA0789-5B05-49B0-A900-13EAC396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76800"/>
            <a:ext cx="1200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6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55" name="Google Shape;155;p3">
            <a:extLst xmlns:a="http://schemas.openxmlformats.org/drawingml/2006/main">
              <a:ext uri="{FF2B5EF4-FFF2-40B4-BE49-F238E27FC236}">
                <a16:creationId xmlns:a16="http://schemas.microsoft.com/office/drawing/2014/main" id="{4B232C42-1E03-496D-88A8-4B108179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29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9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0.4127</a:t>
            </a:r>
          </a:p>
        </p:txBody>
      </p:sp>
      <p:sp>
        <p:nvSpPr>
          <p:cNvPr id="156" name="Google Shape;156;p3">
            <a:extLst xmlns:a="http://schemas.openxmlformats.org/drawingml/2006/main">
              <a:ext uri="{FF2B5EF4-FFF2-40B4-BE49-F238E27FC236}">
                <a16:creationId xmlns:a16="http://schemas.microsoft.com/office/drawing/2014/main" id="{3C7632C7-B1FE-491D-B22B-9DBB126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006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3">
            <a:extLst xmlns:a="http://schemas.openxmlformats.org/drawingml/2006/main">
              <a:ext uri="{FF2B5EF4-FFF2-40B4-BE49-F238E27FC236}">
                <a16:creationId xmlns:a16="http://schemas.microsoft.com/office/drawing/2014/main" id="{42C51984-CE07-4758-BBEA-384E13F1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76800"/>
            <a:ext cx="1200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6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R@100</a:t>
            </a:r>
          </a:p>
        </p:txBody>
      </p:sp>
      <p:sp>
        <p:nvSpPr>
          <p:cNvPr id="158" name="Google Shape;158;p3">
            <a:extLst xmlns:a="http://schemas.openxmlformats.org/drawingml/2006/main">
              <a:ext uri="{FF2B5EF4-FFF2-40B4-BE49-F238E27FC236}">
                <a16:creationId xmlns:a16="http://schemas.microsoft.com/office/drawing/2014/main" id="{E880434D-B46F-4A0A-8BB7-32856376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29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95" b="1">
                <a:solidFill>
                  <a:srgbClr val="134E4A"/>
                </a:solidFill>
                <a:latin typeface="Play"/>
                <a:ea typeface="Play"/>
                <a:cs typeface="Play"/>
              </a:rPr>
              <a:t>0.8208</a:t>
            </a:r>
          </a:p>
        </p:txBody>
      </p:sp>
      <p:sp>
        <p:nvSpPr>
          <p:cNvPr id="159" name="Google Shape;159;p3">
            <a:extLst xmlns:a="http://schemas.openxmlformats.org/drawingml/2006/main">
              <a:ext uri="{FF2B5EF4-FFF2-40B4-BE49-F238E27FC236}">
                <a16:creationId xmlns:a16="http://schemas.microsoft.com/office/drawing/2014/main" id="{10F50761-E976-4C93-A025-DDFA7139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29250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Final selected test system: Hybrid + weighted RRF.</a:t>
            </a:r>
          </a:p>
        </p:txBody>
      </p:sp>
      <p:sp>
        <p:nvSpPr>
          <p:cNvPr id="160" name="Google Shape;160;p3">
            <a:extLst xmlns:a="http://schemas.openxmlformats.org/drawingml/2006/main">
              <a:ext uri="{FF2B5EF4-FFF2-40B4-BE49-F238E27FC236}">
                <a16:creationId xmlns:a16="http://schemas.microsoft.com/office/drawing/2014/main" id="{CFF352C2-F96B-4800-833C-C2B88A4F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105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8"/>
          </a:solidFill>
          <a:ln xmlns:a="http://schemas.openxmlformats.org/drawingml/2006/main" w="9525" cmpd="sng">
            <a:solidFill>
              <a:srgbClr val="B8DCD5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3">
            <a:extLst xmlns:a="http://schemas.openxmlformats.org/drawingml/2006/main">
              <a:ext uri="{FF2B5EF4-FFF2-40B4-BE49-F238E27FC236}">
                <a16:creationId xmlns:a16="http://schemas.microsoft.com/office/drawing/2014/main" id="{4B5F4084-A5C7-461F-84AB-EEAFCBD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66975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1">
                <a:solidFill>
                  <a:srgbClr val="134E4A"/>
                </a:solidFill>
                <a:latin typeface="Arial"/>
                <a:ea typeface="Arial"/>
                <a:cs typeface="Arial"/>
              </a:rPr>
              <a:t>Test model comparison</a:t>
            </a:r>
          </a:p>
        </p:txBody>
      </p:sp>
      <p:sp>
        <p:nvSpPr>
          <p:cNvPr id="162" name="Google Shape;162;p3">
            <a:extLst xmlns:a="http://schemas.openxmlformats.org/drawingml/2006/main">
              <a:ext uri="{FF2B5EF4-FFF2-40B4-BE49-F238E27FC236}">
                <a16:creationId xmlns:a16="http://schemas.microsoft.com/office/drawing/2014/main" id="{1D09163E-5EC1-4966-B41C-5E45728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4097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525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nDCG@20 on held-out test</a:t>
            </a:r>
          </a:p>
        </p:txBody>
      </p:sp>
      <p:sp>
        <p:nvSpPr>
          <p:cNvPr id="163" name="Google Shape;163;p3">
            <a:extLst xmlns:a="http://schemas.openxmlformats.org/drawingml/2006/main">
              <a:ext uri="{FF2B5EF4-FFF2-40B4-BE49-F238E27FC236}">
                <a16:creationId xmlns:a16="http://schemas.microsoft.com/office/drawing/2014/main" id="{E7FCD8D9-7712-43BB-B8DD-1282825E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36520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164" name="Google Shape;164;p3">
            <a:extLst xmlns:a="http://schemas.openxmlformats.org/drawingml/2006/main">
              <a:ext uri="{FF2B5EF4-FFF2-40B4-BE49-F238E27FC236}">
                <a16:creationId xmlns:a16="http://schemas.microsoft.com/office/drawing/2014/main" id="{97A28C5E-38CE-4551-8AA5-ED3188C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4142"/>
            <a:ext cx="397383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6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3">
            <a:extLst xmlns:a="http://schemas.openxmlformats.org/drawingml/2006/main">
              <a:ext uri="{FF2B5EF4-FFF2-40B4-BE49-F238E27FC236}">
                <a16:creationId xmlns:a16="http://schemas.microsoft.com/office/drawing/2014/main" id="{BF98E96F-B3D2-4A1F-93D3-2F7F2539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783" y="2634615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0.2235</a:t>
            </a:r>
          </a:p>
        </p:txBody>
      </p:sp>
      <p:sp>
        <p:nvSpPr>
          <p:cNvPr id="166" name="Google Shape;166;p3">
            <a:extLst xmlns:a="http://schemas.openxmlformats.org/drawingml/2006/main">
              <a:ext uri="{FF2B5EF4-FFF2-40B4-BE49-F238E27FC236}">
                <a16:creationId xmlns:a16="http://schemas.microsoft.com/office/drawing/2014/main" id="{2566F821-E2A1-4D8E-9822-460C139A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4155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BM25 + rerank</a:t>
            </a:r>
          </a:p>
        </p:txBody>
      </p:sp>
      <p:sp>
        <p:nvSpPr>
          <p:cNvPr id="167" name="Google Shape;167;p3">
            <a:extLst xmlns:a="http://schemas.openxmlformats.org/drawingml/2006/main">
              <a:ext uri="{FF2B5EF4-FFF2-40B4-BE49-F238E27FC236}">
                <a16:creationId xmlns:a16="http://schemas.microsoft.com/office/drawing/2014/main" id="{A0D202AE-1292-4EC7-B633-F0828F6F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91777"/>
            <a:ext cx="537134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8" name="Google Shape;168;p3">
            <a:extLst xmlns:a="http://schemas.openxmlformats.org/drawingml/2006/main">
              <a:ext uri="{FF2B5EF4-FFF2-40B4-BE49-F238E27FC236}">
                <a16:creationId xmlns:a16="http://schemas.microsoft.com/office/drawing/2014/main" id="{12E5142F-81F2-4C3F-8BF4-1F86E5E6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534" y="2762250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0.3021</a:t>
            </a:r>
          </a:p>
        </p:txBody>
      </p:sp>
      <p:sp>
        <p:nvSpPr>
          <p:cNvPr id="169" name="Google Shape;169;p3">
            <a:extLst xmlns:a="http://schemas.openxmlformats.org/drawingml/2006/main">
              <a:ext uri="{FF2B5EF4-FFF2-40B4-BE49-F238E27FC236}">
                <a16:creationId xmlns:a16="http://schemas.microsoft.com/office/drawing/2014/main" id="{A0067BB9-0192-4BAA-AA5A-94FEC29A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1790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170" name="Google Shape;170;p3">
            <a:extLst xmlns:a="http://schemas.openxmlformats.org/drawingml/2006/main">
              <a:ext uri="{FF2B5EF4-FFF2-40B4-BE49-F238E27FC236}">
                <a16:creationId xmlns:a16="http://schemas.microsoft.com/office/drawing/2014/main" id="{CA5AA2CF-DE47-45E7-8275-5BCB38AB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9412"/>
            <a:ext cx="934161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1" name="Google Shape;171;p3">
            <a:extLst xmlns:a="http://schemas.openxmlformats.org/drawingml/2006/main">
              <a:ext uri="{FF2B5EF4-FFF2-40B4-BE49-F238E27FC236}">
                <a16:creationId xmlns:a16="http://schemas.microsoft.com/office/drawing/2014/main" id="{A110A0E6-4FD5-4C47-8A53-353944B9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561" y="2889885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0.4983</a:t>
            </a:r>
          </a:p>
        </p:txBody>
      </p:sp>
      <p:sp>
        <p:nvSpPr>
          <p:cNvPr id="172" name="Google Shape;172;p3">
            <a:extLst xmlns:a="http://schemas.openxmlformats.org/drawingml/2006/main">
              <a:ext uri="{FF2B5EF4-FFF2-40B4-BE49-F238E27FC236}">
                <a16:creationId xmlns:a16="http://schemas.microsoft.com/office/drawing/2014/main" id="{31B56D05-C28F-4F8A-B83E-8FFE87F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Dense + rerank</a:t>
            </a:r>
          </a:p>
        </p:txBody>
      </p:sp>
      <p:sp>
        <p:nvSpPr>
          <p:cNvPr id="173" name="Google Shape;173;p3">
            <a:extLst xmlns:a="http://schemas.openxmlformats.org/drawingml/2006/main">
              <a:ext uri="{FF2B5EF4-FFF2-40B4-BE49-F238E27FC236}">
                <a16:creationId xmlns:a16="http://schemas.microsoft.com/office/drawing/2014/main" id="{E602053F-53AF-451C-81D4-D9306CC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47048"/>
            <a:ext cx="758495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E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4" name="Google Shape;174;p3">
            <a:extLst xmlns:a="http://schemas.openxmlformats.org/drawingml/2006/main">
              <a:ext uri="{FF2B5EF4-FFF2-40B4-BE49-F238E27FC236}">
                <a16:creationId xmlns:a16="http://schemas.microsoft.com/office/drawing/2014/main" id="{A56E6321-9B27-482F-AAF3-002F773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895" y="3017520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0.4228</a:t>
            </a:r>
          </a:p>
        </p:txBody>
      </p:sp>
      <p:sp>
        <p:nvSpPr>
          <p:cNvPr id="175" name="Google Shape;175;p3">
            <a:extLst xmlns:a="http://schemas.openxmlformats.org/drawingml/2006/main">
              <a:ext uri="{FF2B5EF4-FFF2-40B4-BE49-F238E27FC236}">
                <a16:creationId xmlns:a16="http://schemas.microsoft.com/office/drawing/2014/main" id="{68452AC9-31A6-4619-8296-D4BE0A8D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7060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RRF</a:t>
            </a:r>
          </a:p>
        </p:txBody>
      </p:sp>
      <p:sp>
        <p:nvSpPr>
          <p:cNvPr id="176" name="Google Shape;176;p3">
            <a:extLst xmlns:a="http://schemas.openxmlformats.org/drawingml/2006/main">
              <a:ext uri="{FF2B5EF4-FFF2-40B4-BE49-F238E27FC236}">
                <a16:creationId xmlns:a16="http://schemas.microsoft.com/office/drawing/2014/main" id="{0A12C121-6B09-4720-8DE8-E6FE37DF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74682"/>
            <a:ext cx="747471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7" name="Google Shape;177;p3">
            <a:extLst xmlns:a="http://schemas.openxmlformats.org/drawingml/2006/main">
              <a:ext uri="{FF2B5EF4-FFF2-40B4-BE49-F238E27FC236}">
                <a16:creationId xmlns:a16="http://schemas.microsoft.com/office/drawing/2014/main" id="{F51A7144-BB2D-48CB-95AE-E1B4458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871" y="3145155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0.4126</a:t>
            </a:r>
          </a:p>
        </p:txBody>
      </p:sp>
      <p:sp>
        <p:nvSpPr>
          <p:cNvPr id="178" name="Google Shape;178;p3">
            <a:extLst xmlns:a="http://schemas.openxmlformats.org/drawingml/2006/main">
              <a:ext uri="{FF2B5EF4-FFF2-40B4-BE49-F238E27FC236}">
                <a16:creationId xmlns:a16="http://schemas.microsoft.com/office/drawing/2014/main" id="{9E544954-DAAE-4A94-9D82-E536365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4695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RRF + rerank</a:t>
            </a:r>
          </a:p>
        </p:txBody>
      </p:sp>
      <p:sp>
        <p:nvSpPr>
          <p:cNvPr id="179" name="Google Shape;179;p3">
            <a:extLst xmlns:a="http://schemas.openxmlformats.org/drawingml/2006/main">
              <a:ext uri="{FF2B5EF4-FFF2-40B4-BE49-F238E27FC236}">
                <a16:creationId xmlns:a16="http://schemas.microsoft.com/office/drawing/2014/main" id="{BC800F63-492D-4A6D-8AE8-C4D35F8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02318"/>
            <a:ext cx="745515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A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0" name="Google Shape;180;p3">
            <a:extLst xmlns:a="http://schemas.openxmlformats.org/drawingml/2006/main">
              <a:ext uri="{FF2B5EF4-FFF2-40B4-BE49-F238E27FC236}">
                <a16:creationId xmlns:a16="http://schemas.microsoft.com/office/drawing/2014/main" id="{96F1F47C-7B01-418D-B969-515BDC45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915" y="3272790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0.4039</a:t>
            </a:r>
          </a:p>
        </p:txBody>
      </p:sp>
      <p:sp>
        <p:nvSpPr>
          <p:cNvPr id="181" name="Google Shape;181;p3">
            <a:extLst xmlns:a="http://schemas.openxmlformats.org/drawingml/2006/main">
              <a:ext uri="{FF2B5EF4-FFF2-40B4-BE49-F238E27FC236}">
                <a16:creationId xmlns:a16="http://schemas.microsoft.com/office/drawing/2014/main" id="{54F87296-F9A6-4AC0-AD84-44D32613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2330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Weighted RRF</a:t>
            </a:r>
          </a:p>
        </p:txBody>
      </p:sp>
      <p:sp>
        <p:nvSpPr>
          <p:cNvPr id="182" name="Google Shape;182;p3">
            <a:extLst xmlns:a="http://schemas.openxmlformats.org/drawingml/2006/main">
              <a:ext uri="{FF2B5EF4-FFF2-40B4-BE49-F238E27FC236}">
                <a16:creationId xmlns:a16="http://schemas.microsoft.com/office/drawing/2014/main" id="{A9C88DC1-10E1-4E0E-87DD-99A03552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952"/>
            <a:ext cx="940740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3" name="Google Shape;183;p3">
            <a:extLst xmlns:a="http://schemas.openxmlformats.org/drawingml/2006/main">
              <a:ext uri="{FF2B5EF4-FFF2-40B4-BE49-F238E27FC236}">
                <a16:creationId xmlns:a16="http://schemas.microsoft.com/office/drawing/2014/main" id="{1FD50DE2-F08E-4847-8EFA-D0E8CB55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140" y="3400425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0.5079</a:t>
            </a:r>
          </a:p>
        </p:txBody>
      </p:sp>
      <p:sp>
        <p:nvSpPr>
          <p:cNvPr id="184" name="Google Shape;184;p3">
            <a:extLst xmlns:a="http://schemas.openxmlformats.org/drawingml/2006/main">
              <a:ext uri="{FF2B5EF4-FFF2-40B4-BE49-F238E27FC236}">
                <a16:creationId xmlns:a16="http://schemas.microsoft.com/office/drawing/2014/main" id="{5C0FBF51-69D5-4090-A288-51BF077B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9965"/>
            <a:ext cx="10287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465" b="0">
                <a:solidFill>
                  <a:srgbClr val="10201E"/>
                </a:solidFill>
                <a:latin typeface="Arial"/>
                <a:ea typeface="Arial"/>
                <a:cs typeface="Arial"/>
              </a:rPr>
              <a:t>Hybrid Weighted RRF + rerank</a:t>
            </a:r>
          </a:p>
        </p:txBody>
      </p:sp>
      <p:sp>
        <p:nvSpPr>
          <p:cNvPr id="185" name="Google Shape;185;p3">
            <a:extLst xmlns:a="http://schemas.openxmlformats.org/drawingml/2006/main">
              <a:ext uri="{FF2B5EF4-FFF2-40B4-BE49-F238E27FC236}">
                <a16:creationId xmlns:a16="http://schemas.microsoft.com/office/drawing/2014/main" id="{FD8D48F2-49B7-4025-868D-DC66B35A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57588"/>
            <a:ext cx="751738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14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6" name="Google Shape;186;p3">
            <a:extLst xmlns:a="http://schemas.openxmlformats.org/drawingml/2006/main">
              <a:ext uri="{FF2B5EF4-FFF2-40B4-BE49-F238E27FC236}">
                <a16:creationId xmlns:a16="http://schemas.microsoft.com/office/drawing/2014/main" id="{1DAF79CE-59C4-4CCC-B6AA-68F9565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138" y="3528060"/>
            <a:ext cx="457200" cy="100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72" b="1">
                <a:solidFill>
                  <a:srgbClr val="10201E"/>
                </a:solidFill>
                <a:latin typeface="Arial"/>
                <a:ea typeface="Arial"/>
                <a:cs typeface="Arial"/>
              </a:rPr>
              <a:t>0.4228</a:t>
            </a:r>
          </a:p>
        </p:txBody>
      </p:sp>
      <p:sp>
        <p:nvSpPr>
          <p:cNvPr id="187" name="Google Shape;187;p3">
            <a:extLst xmlns:a="http://schemas.openxmlformats.org/drawingml/2006/main">
              <a:ext uri="{FF2B5EF4-FFF2-40B4-BE49-F238E27FC236}">
                <a16:creationId xmlns:a16="http://schemas.microsoft.com/office/drawing/2014/main" id="{63FA41F5-64ED-4207-A848-C1BB763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737" y="3636645"/>
            <a:ext cx="2838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2" b="0">
                <a:solidFill>
                  <a:srgbClr val="5D706C"/>
                </a:solidFill>
                <a:latin typeface="Arial"/>
                <a:ea typeface="Arial"/>
                <a:cs typeface="Arial"/>
              </a:rPr>
              <a:t>Weighted RRF stays best; BM25 rerank improves BM25 only.</a:t>
            </a:r>
          </a:p>
        </p:txBody>
      </p:sp>
    </p:spTree>
    <p:extLst>
      <p:ext uri="{BB962C8B-B14F-4D97-AF65-F5344CB8AC3E}">
        <p14:creationId xmlns:p14="http://schemas.microsoft.com/office/powerpoint/2010/main" val="1442941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2026-06-07T10:02:04.9120000Z</dcterms:created>
  <dcterms:modified xsi:type="dcterms:W3CDTF">2026-06-07T10:02:04.9120000Z</dcterms:modified>
</coreProperties>
</file>